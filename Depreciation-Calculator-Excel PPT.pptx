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58" r:id="rId9"/>
    <p:sldId id="261" r:id="rId10"/>
    <p:sldId id="262" r:id="rId11"/>
    <p:sldId id="264" r:id="rId12"/>
    <p:sldId id="265" r:id="rId13"/>
    <p:sldId id="268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jeena Poojari" userId="d5ce91887a48419e" providerId="LiveId" clId="{1671E6E2-FCEE-47EA-BCE3-A504BAE3BC3E}"/>
    <pc:docChg chg="undo custSel delSld modSld">
      <pc:chgData name="Sajeena Poojari" userId="d5ce91887a48419e" providerId="LiveId" clId="{1671E6E2-FCEE-47EA-BCE3-A504BAE3BC3E}" dt="2026-03-03T12:21:11.175" v="39" actId="47"/>
      <pc:docMkLst>
        <pc:docMk/>
      </pc:docMkLst>
      <pc:sldChg chg="modSp mod">
        <pc:chgData name="Sajeena Poojari" userId="d5ce91887a48419e" providerId="LiveId" clId="{1671E6E2-FCEE-47EA-BCE3-A504BAE3BC3E}" dt="2026-03-03T12:05:19.213" v="3" actId="20577"/>
        <pc:sldMkLst>
          <pc:docMk/>
          <pc:sldMk cId="3503870934" sldId="256"/>
        </pc:sldMkLst>
        <pc:spChg chg="mod">
          <ac:chgData name="Sajeena Poojari" userId="d5ce91887a48419e" providerId="LiveId" clId="{1671E6E2-FCEE-47EA-BCE3-A504BAE3BC3E}" dt="2026-03-03T12:05:19.213" v="3" actId="20577"/>
          <ac:spMkLst>
            <pc:docMk/>
            <pc:sldMk cId="3503870934" sldId="256"/>
            <ac:spMk id="2" creationId="{1FC7B1C0-4C24-0F6A-5D86-5954B03F2682}"/>
          </ac:spMkLst>
        </pc:spChg>
      </pc:sldChg>
      <pc:sldChg chg="addSp delSp modSp mod">
        <pc:chgData name="Sajeena Poojari" userId="d5ce91887a48419e" providerId="LiveId" clId="{1671E6E2-FCEE-47EA-BCE3-A504BAE3BC3E}" dt="2026-03-03T12:21:02.626" v="38" actId="403"/>
        <pc:sldMkLst>
          <pc:docMk/>
          <pc:sldMk cId="1323562072" sldId="262"/>
        </pc:sldMkLst>
        <pc:graphicFrameChg chg="add mod">
          <ac:chgData name="Sajeena Poojari" userId="d5ce91887a48419e" providerId="LiveId" clId="{1671E6E2-FCEE-47EA-BCE3-A504BAE3BC3E}" dt="2026-03-03T12:21:02.626" v="38" actId="403"/>
          <ac:graphicFrameMkLst>
            <pc:docMk/>
            <pc:sldMk cId="1323562072" sldId="262"/>
            <ac:graphicFrameMk id="2" creationId="{CD8BFDBB-8D67-BEA3-2264-3F7D6DA4AA13}"/>
          </ac:graphicFrameMkLst>
        </pc:graphicFrameChg>
        <pc:graphicFrameChg chg="del">
          <ac:chgData name="Sajeena Poojari" userId="d5ce91887a48419e" providerId="LiveId" clId="{1671E6E2-FCEE-47EA-BCE3-A504BAE3BC3E}" dt="2026-03-03T12:19:59.940" v="4" actId="478"/>
          <ac:graphicFrameMkLst>
            <pc:docMk/>
            <pc:sldMk cId="1323562072" sldId="262"/>
            <ac:graphicFrameMk id="7" creationId="{7C85AB0A-5419-43B4-AF42-460A7DF8D786}"/>
          </ac:graphicFrameMkLst>
        </pc:graphicFrameChg>
      </pc:sldChg>
      <pc:sldChg chg="del">
        <pc:chgData name="Sajeena Poojari" userId="d5ce91887a48419e" providerId="LiveId" clId="{1671E6E2-FCEE-47EA-BCE3-A504BAE3BC3E}" dt="2026-03-03T12:21:11.175" v="39" actId="47"/>
        <pc:sldMkLst>
          <pc:docMk/>
          <pc:sldMk cId="1387012860" sldId="263"/>
        </pc:sldMkLst>
      </pc:sldChg>
      <pc:sldChg chg="modSp mod">
        <pc:chgData name="Sajeena Poojari" userId="d5ce91887a48419e" providerId="LiveId" clId="{1671E6E2-FCEE-47EA-BCE3-A504BAE3BC3E}" dt="2026-03-03T12:04:48.634" v="0" actId="20577"/>
        <pc:sldMkLst>
          <pc:docMk/>
          <pc:sldMk cId="2320136172" sldId="267"/>
        </pc:sldMkLst>
        <pc:spChg chg="mod">
          <ac:chgData name="Sajeena Poojari" userId="d5ce91887a48419e" providerId="LiveId" clId="{1671E6E2-FCEE-47EA-BCE3-A504BAE3BC3E}" dt="2026-03-03T12:04:48.634" v="0" actId="20577"/>
          <ac:spMkLst>
            <pc:docMk/>
            <pc:sldMk cId="2320136172" sldId="267"/>
            <ac:spMk id="3" creationId="{A0844E71-7048-81C2-5448-6EAC4E2F36F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ce91887a48419e/Desktop/CouchX/Excel/need%20to%20work%20of%20Assignment%20and%20Project/Project%20need%20to%20work/Project%201/Depreciation-Calculator-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Annual Depreciation Expense Comparison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'Depreciation Calculator'!$C$22:$C$23</c:f>
              <c:strCache>
                <c:ptCount val="2"/>
                <c:pt idx="0">
                  <c:v>Depreciation Schedule</c:v>
                </c:pt>
                <c:pt idx="1">
                  <c:v>Year on Year Depreciation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57150" cap="rnd">
                <a:solidFill>
                  <a:schemeClr val="tx1"/>
                </a:solidFill>
                <a:prstDash val="sysDot"/>
              </a:ln>
              <a:effectLst/>
            </c:spPr>
            <c:trendlineType val="power"/>
            <c:dispRSqr val="0"/>
            <c:dispEq val="0"/>
          </c:trendline>
          <c:cat>
            <c:numRef>
              <c:f>'Depreciation Calculator'!$B$24:$B$33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'Depreciation Calculator'!$C$24:$C$33</c:f>
              <c:numCache>
                <c:formatCode>[$$-409]#,##0.00</c:formatCode>
                <c:ptCount val="10"/>
                <c:pt idx="0">
                  <c:v>102835.88263785925</c:v>
                </c:pt>
                <c:pt idx="1">
                  <c:v>81685.445122044126</c:v>
                </c:pt>
                <c:pt idx="2">
                  <c:v>64885.05542646048</c:v>
                </c:pt>
                <c:pt idx="3">
                  <c:v>51540.031536887516</c:v>
                </c:pt>
                <c:pt idx="4">
                  <c:v>40939.70226832966</c:v>
                </c:pt>
                <c:pt idx="5">
                  <c:v>32519.561432939961</c:v>
                </c:pt>
                <c:pt idx="6">
                  <c:v>25831.205827035024</c:v>
                </c:pt>
                <c:pt idx="7">
                  <c:v>20518.456125388308</c:v>
                </c:pt>
                <c:pt idx="8">
                  <c:v>16298.389033347312</c:v>
                </c:pt>
                <c:pt idx="9">
                  <c:v>12946.27058970836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3E-4F74-BF7A-0CB1DC6575C0}"/>
            </c:ext>
          </c:extLst>
        </c:ser>
        <c:ser>
          <c:idx val="1"/>
          <c:order val="1"/>
          <c:tx>
            <c:strRef>
              <c:f>'Depreciation Calculator'!$D$22:$D$23</c:f>
              <c:strCache>
                <c:ptCount val="2"/>
                <c:pt idx="0">
                  <c:v>Depreciation Schedule</c:v>
                </c:pt>
                <c:pt idx="1">
                  <c:v>Book Value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'Depreciation Calculator'!$B$24:$B$33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'Depreciation Calculator'!$D$24:$D$33</c:f>
              <c:numCache>
                <c:formatCode>[$$-409]#,##0.00</c:formatCode>
                <c:ptCount val="10"/>
                <c:pt idx="0">
                  <c:v>500000</c:v>
                </c:pt>
                <c:pt idx="1">
                  <c:v>397164.11736214074</c:v>
                </c:pt>
                <c:pt idx="2">
                  <c:v>315478.67224009661</c:v>
                </c:pt>
                <c:pt idx="3">
                  <c:v>250593.61681363612</c:v>
                </c:pt>
                <c:pt idx="4">
                  <c:v>199053.58527674861</c:v>
                </c:pt>
                <c:pt idx="5">
                  <c:v>158113.88300841895</c:v>
                </c:pt>
                <c:pt idx="6">
                  <c:v>125594.321575479</c:v>
                </c:pt>
                <c:pt idx="7">
                  <c:v>99763.115748443975</c:v>
                </c:pt>
                <c:pt idx="8">
                  <c:v>79244.659623055661</c:v>
                </c:pt>
                <c:pt idx="9">
                  <c:v>62946.270589708351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3E-4F74-BF7A-0CB1DC6575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02173824"/>
        <c:axId val="1102163264"/>
      </c:barChart>
      <c:catAx>
        <c:axId val="1102173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163264"/>
        <c:crosses val="autoZero"/>
        <c:auto val="1"/>
        <c:lblAlgn val="ctr"/>
        <c:lblOffset val="100"/>
        <c:noMultiLvlLbl val="0"/>
      </c:catAx>
      <c:valAx>
        <c:axId val="11021632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.00" sourceLinked="1"/>
        <c:majorTickMark val="out"/>
        <c:minorTickMark val="none"/>
        <c:tickLblPos val="nextTo"/>
        <c:crossAx val="1102173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E127F-B650-4D88-8B56-F7938469DC74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18840-007C-4CC3-9550-21DC002BE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44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9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4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30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56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7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1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50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71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52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8574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3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6405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081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101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43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8BB27-98D2-40A2-80E2-B51310E6C33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B2138F-55D7-44AB-ADE7-8FBAD0AEA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0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d5ce91887a48419e/Desktop/CouchX/Excel/need%20to%20work%20of%20Assignment%20and%20Project/Project%20need%20to%20work/Project%201/Project-1(Depreciation-Calculator-Excel).xls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B1C0-4C24-0F6A-5D86-5954B03F2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788" y="700088"/>
            <a:ext cx="9829800" cy="4729162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Title: Comparative Analysis of Depreciation Methods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Straight-Line vs. Diminishing Balance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Prepared by: Roshan Poojari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387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07AA-FFD4-B110-1605-EAB75FCF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3750725" cy="1047528"/>
          </a:xfrm>
        </p:spPr>
        <p:txBody>
          <a:bodyPr>
            <a:noAutofit/>
          </a:bodyPr>
          <a:lstStyle/>
          <a:p>
            <a:r>
              <a:rPr lang="en-IN" sz="5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DC8F3-CAE7-F692-AA0A-FE89AFE93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3395663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Depreciation is the systematic allocation of an asset’s cost over its useful life.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helps reflect asset value accurately and impacts financial reporting.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project compares two methods: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Straight-Line Method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Diminishing Balance Method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78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26DC-6055-8685-265D-027ED9E9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Terminologies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F33480-9318-A107-9813-E7D9598F7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60562" y="1905000"/>
            <a:ext cx="8648008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Asset Cost: Initial purchase price.</a:t>
            </a:r>
          </a:p>
          <a:p>
            <a:pPr marR="0" lvl="0" fontAlgn="base">
              <a:lnSpc>
                <a:spcPct val="100000"/>
              </a:lnSpc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Scrap Value: Residual value at the end of life.</a:t>
            </a:r>
          </a:p>
          <a:p>
            <a:pPr marR="0" lvl="0" fontAlgn="base">
              <a:lnSpc>
                <a:spcPct val="100000"/>
              </a:lnSpc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Life Span: Expected years of utility</a:t>
            </a:r>
          </a:p>
        </p:txBody>
      </p:sp>
    </p:spTree>
    <p:extLst>
      <p:ext uri="{BB962C8B-B14F-4D97-AF65-F5344CB8AC3E}">
        <p14:creationId xmlns:p14="http://schemas.microsoft.com/office/powerpoint/2010/main" val="1239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4E9D-15E4-B833-CF68-4F52819B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551" y="624110"/>
            <a:ext cx="9390062" cy="1280890"/>
          </a:xfrm>
        </p:spPr>
        <p:txBody>
          <a:bodyPr>
            <a:normAutofit fontScale="90000"/>
          </a:bodyPr>
          <a:lstStyle/>
          <a:p>
            <a:r>
              <a:rPr lang="en-IN" sz="5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Methodology: Straight-Line (SLM)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D2DB72-3FA2-E092-8BAE-2A905B02F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1" y="2460073"/>
            <a:ext cx="10201274" cy="159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Approach: Constant depreciation amount every year.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Formula: </a:t>
            </a:r>
          </a:p>
          <a:p>
            <a:pPr marL="0" indent="0" fontAlgn="base">
              <a:buNone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(Asset Price - Scrap Value) / Life Span</a:t>
            </a:r>
          </a:p>
        </p:txBody>
      </p:sp>
    </p:spTree>
    <p:extLst>
      <p:ext uri="{BB962C8B-B14F-4D97-AF65-F5344CB8AC3E}">
        <p14:creationId xmlns:p14="http://schemas.microsoft.com/office/powerpoint/2010/main" val="101908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96FD-5917-3A3E-6E6F-8C5453C0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9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Methodology: Diminishing Balance (DBM)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D9B21E-CAD2-E774-294A-EBDDD4D6B7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0275" y="2487338"/>
            <a:ext cx="8529638" cy="2026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Approach: Higher depreciation in early 								years, lower in later years.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Formula: </a:t>
            </a:r>
          </a:p>
          <a:p>
            <a:pPr marL="0" indent="0" fontAlgn="base">
              <a:buNone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Book Value \times Depreciation Rate</a:t>
            </a:r>
          </a:p>
        </p:txBody>
      </p:sp>
    </p:spTree>
    <p:extLst>
      <p:ext uri="{BB962C8B-B14F-4D97-AF65-F5344CB8AC3E}">
        <p14:creationId xmlns:p14="http://schemas.microsoft.com/office/powerpoint/2010/main" val="34635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557-2DFC-3137-9A57-8CD51D72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251" y="595535"/>
            <a:ext cx="8911687" cy="1280890"/>
          </a:xfrm>
        </p:spPr>
        <p:txBody>
          <a:bodyPr/>
          <a:lstStyle/>
          <a:p>
            <a:r>
              <a:rPr lang="en-IN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Insights - SLM 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5AED79-31DD-03FD-3EFB-2DE7DB04F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18251" y="2346652"/>
            <a:ext cx="8701088" cy="1082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Present the $45,000 annual depreciation.</a:t>
            </a:r>
          </a:p>
          <a:p>
            <a:pPr marR="0" lvl="0" fontAlgn="base">
              <a:lnSpc>
                <a:spcPct val="100000"/>
              </a:lnSpc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Highlight the steady decline in value.</a:t>
            </a:r>
          </a:p>
        </p:txBody>
      </p:sp>
    </p:spTree>
    <p:extLst>
      <p:ext uri="{BB962C8B-B14F-4D97-AF65-F5344CB8AC3E}">
        <p14:creationId xmlns:p14="http://schemas.microsoft.com/office/powerpoint/2010/main" val="73918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68B1-859A-C445-EE36-5DE72AD7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Insights - DBM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9C58C6-46A2-E98C-961F-193E9C294C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4388" y="2257671"/>
            <a:ext cx="10015537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Show the Year 1 vs. Year 10 comparison.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Explain why the expense is front-loaded </a:t>
            </a:r>
          </a:p>
          <a:p>
            <a:pPr marL="0" indent="0" fontAlgn="base">
              <a:buNone/>
            </a:pPr>
            <a:r>
              <a:rPr lang="en-US" altLang="en-US" sz="28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(suitable for tech/vehicles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65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C820-BB16-DA03-5CCF-93716D8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1765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Key Inputs &amp; Assumptions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D188BB-2EBB-D106-F5C0-A918106B5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532002"/>
              </p:ext>
            </p:extLst>
          </p:nvPr>
        </p:nvGraphicFramePr>
        <p:xfrm>
          <a:off x="1700212" y="1957389"/>
          <a:ext cx="9229726" cy="3471864"/>
        </p:xfrm>
        <a:graphic>
          <a:graphicData uri="http://schemas.openxmlformats.org/drawingml/2006/table">
            <a:tbl>
              <a:tblPr firstRow="1" firstCol="1" lastCol="1" bandRow="1">
                <a:tableStyleId>{B301B821-A1FF-4177-AEE7-76D212191A09}</a:tableStyleId>
              </a:tblPr>
              <a:tblGrid>
                <a:gridCol w="4689245">
                  <a:extLst>
                    <a:ext uri="{9D8B030D-6E8A-4147-A177-3AD203B41FA5}">
                      <a16:colId xmlns:a16="http://schemas.microsoft.com/office/drawing/2014/main" val="1262769494"/>
                    </a:ext>
                  </a:extLst>
                </a:gridCol>
                <a:gridCol w="4540481">
                  <a:extLst>
                    <a:ext uri="{9D8B030D-6E8A-4147-A177-3AD203B41FA5}">
                      <a16:colId xmlns:a16="http://schemas.microsoft.com/office/drawing/2014/main" val="2118736925"/>
                    </a:ext>
                  </a:extLst>
                </a:gridCol>
              </a:tblGrid>
              <a:tr h="578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Parameter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Value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753711"/>
                  </a:ext>
                </a:extLst>
              </a:tr>
              <a:tr h="578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Asset Price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₹500,000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199415"/>
                  </a:ext>
                </a:extLst>
              </a:tr>
              <a:tr h="578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Additional Cost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₹50,000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194098"/>
                  </a:ext>
                </a:extLst>
              </a:tr>
              <a:tr h="578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Scrap Value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₹50,000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26675"/>
                  </a:ext>
                </a:extLst>
              </a:tr>
              <a:tr h="578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Estimated Life Span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 years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5902244"/>
                  </a:ext>
                </a:extLst>
              </a:tr>
              <a:tr h="578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Depreciation Rate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20.567%</a:t>
                      </a:r>
                      <a:endParaRPr lang="en-IN" sz="28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36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357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CC2C-EE23-224B-BF95-203119F31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Depreciation Comparison Table</a:t>
            </a:r>
            <a:endParaRPr lang="en-IN" sz="4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486149-C1AA-F6EF-1980-B48FE0DD9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210969"/>
              </p:ext>
            </p:extLst>
          </p:nvPr>
        </p:nvGraphicFramePr>
        <p:xfrm>
          <a:off x="1856326" y="1905000"/>
          <a:ext cx="8911687" cy="3993475"/>
        </p:xfrm>
        <a:graphic>
          <a:graphicData uri="http://schemas.openxmlformats.org/drawingml/2006/table">
            <a:tbl>
              <a:tblPr firstRow="1" lastRow="1">
                <a:tableStyleId>{8A107856-5554-42FB-B03E-39F5DBC370BA}</a:tableStyleId>
              </a:tblPr>
              <a:tblGrid>
                <a:gridCol w="1004134">
                  <a:extLst>
                    <a:ext uri="{9D8B030D-6E8A-4147-A177-3AD203B41FA5}">
                      <a16:colId xmlns:a16="http://schemas.microsoft.com/office/drawing/2014/main" val="2225255470"/>
                    </a:ext>
                  </a:extLst>
                </a:gridCol>
                <a:gridCol w="6378531">
                  <a:extLst>
                    <a:ext uri="{9D8B030D-6E8A-4147-A177-3AD203B41FA5}">
                      <a16:colId xmlns:a16="http://schemas.microsoft.com/office/drawing/2014/main" val="3053768870"/>
                    </a:ext>
                  </a:extLst>
                </a:gridCol>
                <a:gridCol w="1529022">
                  <a:extLst>
                    <a:ext uri="{9D8B030D-6E8A-4147-A177-3AD203B41FA5}">
                      <a16:colId xmlns:a16="http://schemas.microsoft.com/office/drawing/2014/main" val="234821722"/>
                    </a:ext>
                  </a:extLst>
                </a:gridCol>
              </a:tblGrid>
              <a:tr h="358379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Depreciation Schedule</a:t>
                      </a:r>
                      <a:endParaRPr lang="en-IN" sz="24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28347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Year</a:t>
                      </a:r>
                      <a:endParaRPr lang="en-IN" sz="1800" b="1" i="0" u="none" strike="noStrike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Year on Year Depreciation Amount</a:t>
                      </a:r>
                      <a:endParaRPr lang="en-US" sz="1800" b="1" i="0" u="none" strike="noStrike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Book Value</a:t>
                      </a: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79331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$102,835.88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$500,000.00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3740795"/>
                  </a:ext>
                </a:extLst>
              </a:tr>
              <a:tr h="2248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$81,685.45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$397,164.12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1072479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$64,885.06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$315,478.67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96034225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$51,540.03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$250,593.62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45431562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5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$40,939.70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$199,053.59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6839154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$32,519.56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$158,113.88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693714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$25,831.21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$125,594.32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3968916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8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$20,518.46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$99,763.12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1414011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$16,298.39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$79,244.66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00809002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$12,946.27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$62,946.27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4343564"/>
                  </a:ext>
                </a:extLst>
              </a:tr>
              <a:tr h="3023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11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>
                        <a:buNone/>
                      </a:pPr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$50,000.00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1072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3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8BFDBB-8D67-BEA3-2264-3F7D6DA4AA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244720"/>
              </p:ext>
            </p:extLst>
          </p:nvPr>
        </p:nvGraphicFramePr>
        <p:xfrm>
          <a:off x="2171701" y="428625"/>
          <a:ext cx="9515474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356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77C4-F869-E920-33BF-792B9860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Comparison </a:t>
            </a:r>
            <a:br>
              <a:rPr lang="en-IN" b="1" dirty="0"/>
            </a:br>
            <a:r>
              <a:rPr lang="en-IN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"Diminishing Balance accelerates expense recognition, aligning with tech asset realities and tax optimization strategies."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92E88-4688-D438-E6E9-ABE59096E9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272981"/>
              </p:ext>
            </p:extLst>
          </p:nvPr>
        </p:nvGraphicFramePr>
        <p:xfrm>
          <a:off x="2589213" y="2271713"/>
          <a:ext cx="8915400" cy="33004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395783707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40665547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196772239"/>
                    </a:ext>
                  </a:extLst>
                </a:gridCol>
              </a:tblGrid>
              <a:tr h="6594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Feature</a:t>
                      </a:r>
                      <a:endParaRPr lang="en-IN" sz="18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Straight-Line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Diminishing Balance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6708574"/>
                  </a:ext>
                </a:extLst>
              </a:tr>
              <a:tr h="660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Simplicity</a:t>
                      </a:r>
                      <a:endParaRPr lang="en-IN" sz="18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✅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❌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123633"/>
                  </a:ext>
                </a:extLst>
              </a:tr>
              <a:tr h="660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Early Expense Impact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❌</a:t>
                      </a:r>
                      <a:endParaRPr lang="en-IN" sz="18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✅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7943009"/>
                  </a:ext>
                </a:extLst>
              </a:tr>
              <a:tr h="660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Predictability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✅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❌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4873905"/>
                  </a:ext>
                </a:extLst>
              </a:tr>
              <a:tr h="6599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Asset Suitability</a:t>
                      </a:r>
                      <a:endParaRPr lang="en-IN" sz="1800" b="1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🪑</a:t>
                      </a:r>
                      <a:r>
                        <a:rPr lang="en-IN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Long-term use</a:t>
                      </a:r>
                      <a:endParaRPr lang="en-IN" sz="18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🚗</a:t>
                      </a:r>
                      <a:r>
                        <a:rPr lang="en-IN" sz="1800" b="1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Rapid obsolescence</a:t>
                      </a:r>
                      <a:endParaRPr lang="en-IN" sz="1800" b="1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2657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97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6A4E-2775-243D-B870-75503740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413" y="624110"/>
            <a:ext cx="9347199" cy="1280890"/>
          </a:xfrm>
        </p:spPr>
        <p:txBody>
          <a:bodyPr>
            <a:norm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Recommendations</a:t>
            </a:r>
            <a:r>
              <a:rPr lang="en-IN" sz="4400" b="1" dirty="0"/>
              <a:t> </a:t>
            </a:r>
            <a:endParaRPr lang="en-IN" sz="4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26B5D5-02D2-08C3-197C-58A1DE73D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103949"/>
              </p:ext>
            </p:extLst>
          </p:nvPr>
        </p:nvGraphicFramePr>
        <p:xfrm>
          <a:off x="1771650" y="1905000"/>
          <a:ext cx="9732963" cy="37408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4321">
                  <a:extLst>
                    <a:ext uri="{9D8B030D-6E8A-4147-A177-3AD203B41FA5}">
                      <a16:colId xmlns:a16="http://schemas.microsoft.com/office/drawing/2014/main" val="2486172502"/>
                    </a:ext>
                  </a:extLst>
                </a:gridCol>
                <a:gridCol w="3244321">
                  <a:extLst>
                    <a:ext uri="{9D8B030D-6E8A-4147-A177-3AD203B41FA5}">
                      <a16:colId xmlns:a16="http://schemas.microsoft.com/office/drawing/2014/main" val="1071350742"/>
                    </a:ext>
                  </a:extLst>
                </a:gridCol>
                <a:gridCol w="3244321">
                  <a:extLst>
                    <a:ext uri="{9D8B030D-6E8A-4147-A177-3AD203B41FA5}">
                      <a16:colId xmlns:a16="http://schemas.microsoft.com/office/drawing/2014/main" val="1403404849"/>
                    </a:ext>
                  </a:extLst>
                </a:gridCol>
              </a:tblGrid>
              <a:tr h="4304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Method</a:t>
                      </a:r>
                      <a:endParaRPr lang="en-I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Use Case Example</a:t>
                      </a:r>
                      <a:endParaRPr lang="en-IN" sz="2000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Strategic Fit</a:t>
                      </a:r>
                      <a:endParaRPr lang="en-IN" sz="2000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2370539"/>
                  </a:ext>
                </a:extLst>
              </a:tr>
              <a:tr h="12473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Straight-Line</a:t>
                      </a:r>
                      <a:endParaRPr lang="en-I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🏢 Buildings, 🪑 Furniture</a:t>
                      </a:r>
                      <a:endParaRPr lang="en-IN" sz="2000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Predictable expense flow for long-term assets. Supports budgeting and lifecycle planning.</a:t>
                      </a:r>
                      <a:endParaRPr lang="en-IN" sz="2000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9346395"/>
                  </a:ext>
                </a:extLst>
              </a:tr>
              <a:tr h="20036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Diminishing Balance</a:t>
                      </a:r>
                      <a:endParaRPr lang="en-I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💻 Tech equipment, 🚚 Vehicles</a:t>
                      </a:r>
                      <a:endParaRPr lang="en-IN" sz="2000" kern="1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Accelerated depreciation for fast-obsolescence. Aligns with tax optimization and refresh cycles.</a:t>
                      </a:r>
                      <a:endParaRPr lang="en-I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9164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37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7215-A846-3A6A-E05A-B2DE8984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2BA4BE-075A-A639-106D-B4A04CD03E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8788" y="1472562"/>
            <a:ext cx="10463212" cy="2841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Fit: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chosen approach aligns well with project objectives and stakeholder expectations. </a:t>
            </a:r>
          </a:p>
          <a:p>
            <a:pPr marR="0" fontAlgn="base">
              <a:lnSpc>
                <a:spcPct val="100000"/>
              </a:lnSpc>
              <a:buSzTx/>
              <a:tabLst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Impact: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Demonstrates clear cost-benefit advantages and supports strategic decision-making. </a:t>
            </a:r>
          </a:p>
          <a:p>
            <a:pPr marR="0" fontAlgn="base">
              <a:lnSpc>
                <a:spcPct val="100000"/>
              </a:lnSpc>
              <a:buSzTx/>
              <a:tabLst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Model Flexibility: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model is adaptable, scalable, and easy to update for future scenarios.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568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36F2-8A81-B206-855B-C73C8CCE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3DC96-42F2-2FB2-0A09-4096954A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825" y="1800225"/>
            <a:ext cx="9475787" cy="3414713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methods converge to the same final depreciated value</a:t>
            </a:r>
          </a:p>
          <a:p>
            <a:pPr lvl="0"/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depends on asset nature and financial strategy</a:t>
            </a:r>
          </a:p>
          <a:p>
            <a:pPr lvl="0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model enables dynamic scenario testing</a:t>
            </a:r>
            <a:b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(e.g., toggle methods, adjust asset life, visualize impact)</a:t>
            </a:r>
          </a:p>
          <a:p>
            <a:pPr lvl="0"/>
            <a:r>
              <a:rPr lang="en-US" sz="2400" b="1" dirty="0"/>
              <a:t>SLM:</a:t>
            </a:r>
            <a:r>
              <a:rPr lang="en-US" sz="2400" dirty="0"/>
              <a:t> Best for assets with consistent utility (e.g., furniture).</a:t>
            </a:r>
          </a:p>
          <a:p>
            <a:pPr lvl="0"/>
            <a:r>
              <a:rPr lang="en-US" sz="2400" b="1" dirty="0"/>
              <a:t>DBM:</a:t>
            </a:r>
            <a:r>
              <a:rPr lang="en-US" sz="2400" dirty="0"/>
              <a:t> Best for assets that lose value quickly (e.g., machinery, electronics).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7566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9C51-61BA-9CBD-50BC-8B210EA0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44E71-7048-81C2-5448-6EAC4E2F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the right method impacts net profit and tax liability.</a:t>
            </a:r>
          </a:p>
          <a:p>
            <a:r>
              <a:rPr lang="en-US" dirty="0"/>
              <a:t>Recommendation: Use DBM for tax shielding in early years.</a:t>
            </a:r>
            <a:endParaRPr lang="en-IN" dirty="0"/>
          </a:p>
          <a:p>
            <a:r>
              <a:rPr lang="en-IN" dirty="0"/>
              <a:t>Hyperlink</a:t>
            </a:r>
          </a:p>
          <a:p>
            <a:pPr lvl="1"/>
            <a:r>
              <a:rPr lang="en-US" dirty="0">
                <a:hlinkClick r:id="rId2"/>
              </a:rPr>
              <a:t>click here  for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13617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224</TotalTime>
  <Words>542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Times New Roman</vt:lpstr>
      <vt:lpstr>Wingdings</vt:lpstr>
      <vt:lpstr>Wingdings 3</vt:lpstr>
      <vt:lpstr>Wisp</vt:lpstr>
      <vt:lpstr>Project Title: Comparative Analysis of Depreciation Methods (Straight-Line vs. Diminishing Balance)  Prepared by: Roshan Poojari </vt:lpstr>
      <vt:lpstr>Introduction</vt:lpstr>
      <vt:lpstr>Key Terminologies</vt:lpstr>
      <vt:lpstr>Methodology: Straight-Line (SLM)</vt:lpstr>
      <vt:lpstr>Methodology: Diminishing Balance (DBM)</vt:lpstr>
      <vt:lpstr>Insights - SLM Results</vt:lpstr>
      <vt:lpstr>Insights - DBM Results</vt:lpstr>
      <vt:lpstr>: Key Inputs &amp; Assumptions</vt:lpstr>
      <vt:lpstr>Depreciation Comparison Table</vt:lpstr>
      <vt:lpstr>PowerPoint Presentation</vt:lpstr>
      <vt:lpstr>Method Comparison  "Diminishing Balance accelerates expense recognition, aligning with tech asset realities and tax optimization strategies."</vt:lpstr>
      <vt:lpstr>Recommendations </vt:lpstr>
      <vt:lpstr>Key Takeaways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Sajeena Poojari</dc:creator>
  <cp:lastModifiedBy>Sajeena Poojari</cp:lastModifiedBy>
  <cp:revision>2</cp:revision>
  <dcterms:created xsi:type="dcterms:W3CDTF">2025-09-16T09:28:10Z</dcterms:created>
  <dcterms:modified xsi:type="dcterms:W3CDTF">2026-03-03T12:21:18Z</dcterms:modified>
</cp:coreProperties>
</file>